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2545"/>
                </a:solidFill>
                <a:latin typeface="Arial"/>
              </a:defRPr>
            </a:pPr>
            <a:r>
              <a:t>Variable Key Length Impacts on Memory Allocation and Throughput in Blowfish Cryptographic Frameworks</a:t>
            </a:r>
          </a:p>
          <a:p>
            <a:pPr>
              <a:spcBef>
                <a:spcPts val="1400"/>
              </a:spcBef>
              <a:defRPr sz="1600">
                <a:solidFill>
                  <a:srgbClr val="134074"/>
                </a:solidFill>
                <a:latin typeface="Arial"/>
              </a:defRPr>
            </a:pPr>
            <a:r>
              <a:t>Collaborative R&amp;D Project &amp;bull; Cryptography &amp; Network Security (CNS A.Y. 2026–27)</a:t>
            </a:r>
          </a:p>
          <a:p>
            <a:pPr>
              <a:spcBef>
                <a:spcPts val="2000"/>
              </a:spcBef>
              <a:defRPr sz="1300">
                <a:solidFill>
                  <a:srgbClr val="282828"/>
                </a:solidFill>
                <a:latin typeface="Arial"/>
              </a:defRPr>
            </a:pPr>
            <a:r>
              <a:t>Student Researcher: Rutuja Hirudkar (UID: 2026-CNS-030)</a:t>
            </a:r>
            <a:br/>
            <a:r>
              <a:t>Academic Supervisor: Prof. Renuka Pawar</a:t>
            </a:r>
            <a:br/>
            <a:r>
              <a:t>Institution: Sardar Patel Institute of Technology (SPIT),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  <a:latin typeface="Arial"/>
              </a:defRPr>
            </a:pPr>
            <a:r>
              <a:t>CNS RESEARCH DEFENSE &amp;BULL; A.Y. 2026–27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Research Motivation &amp; Empirical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The Variable-Key Block Cipher Paradigm: </a:t>
            </a:r>
            <a:r>
              <a:rPr b="0">
                <a:solidFill>
                  <a:srgbClr val="282828"/>
                </a:solidFill>
              </a:rPr>
              <a:t>Bruce Schneier designed Blowfish (1993) supporting flexible keys from 32 to 448 bits in 32-bit increments.</a:t>
            </a:r>
          </a:p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The Common Architectural Misconception: </a:t>
            </a:r>
            <a:r>
              <a:rPr b="0">
                <a:solidFill>
                  <a:srgbClr val="282828"/>
                </a:solidFill>
              </a:rPr>
              <a:t>Practitioners often assume that 448-bit keys incur higher runtime memory overhead and lower steady-state encryption throughput than 32-bit or 128-bit keys.</a:t>
            </a:r>
          </a:p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The Research Gap: </a:t>
            </a:r>
            <a:r>
              <a:rPr b="0">
                <a:solidFill>
                  <a:srgbClr val="282828"/>
                </a:solidFill>
              </a:rPr>
              <a:t>Rigorous empirical profiling separating theoretical algorithmic subkeys, Python runtime heap (tracemalloc), and OS process RSS has been lacking.</a:t>
            </a:r>
          </a:p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SPIT Collaborative R&amp;D Framework: </a:t>
            </a:r>
            <a:r>
              <a:rPr b="0">
                <a:solidFill>
                  <a:srgbClr val="282828"/>
                </a:solidFill>
              </a:rPr>
              <a:t>Comprehensive four-phase experimental investigation: Phase 1 Data Lock, Phase 2 Local Tuning, Phase 3 Tournament Benchmark, and Phase 4 Publication Compilation.</a:t>
            </a:r>
          </a:p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Core Finding Preview: </a:t>
            </a:r>
            <a:r>
              <a:rPr b="0">
                <a:solidFill>
                  <a:srgbClr val="282828"/>
                </a:solidFill>
              </a:rPr>
              <a:t>Empirical audit proves that throughput and memory are 100% invariant to key length once steady-state is attained; cold-start artifacts must be isolated via warm-ups.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  <a:latin typeface="Arial"/>
              </a:defRPr>
            </a:pPr>
            <a:r>
              <a:t>CNS RESEARCH DEFENSE &amp;BULL; A.Y. 2026–27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Theoretical Foundation: Why Blowfish Is Key-Invariant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16-Round Feistel Structure: </a:t>
            </a:r>
            <a:r>
              <a:rPr b="0">
                <a:solidFill>
                  <a:srgbClr val="282828"/>
                </a:solidFill>
              </a:rPr>
              <a:t>Every 64-bit plaintext block undergoes exactly 16 Feistel rounds: L_i = R_{i-1}, R_i = L_{i-1} ^ F(R_{i-1}) ^ P_i.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Fixed S-Box &amp; P-Array State: </a:t>
            </a:r>
            <a:r>
              <a:rPr b="0">
                <a:solidFill>
                  <a:srgbClr val="282828"/>
                </a:solidFill>
              </a:rPr>
              <a:t>Four 256x32-bit S-boxes (4,096 bytes) and one 18x32-bit P-array (72 bytes). Total internal subkey storage = exactly 4,168 bytes.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Constant Key Expansion Cost: </a:t>
            </a:r>
            <a:r>
              <a:rPr b="0">
                <a:solidFill>
                  <a:srgbClr val="282828"/>
                </a:solidFill>
              </a:rPr>
              <a:t>Subkeys are populated by iteratively encrypting an all-zero block exactly 521 times using fractional digits of pi.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Mathematical Invariance: </a:t>
            </a:r>
            <a:r>
              <a:rPr b="0">
                <a:solidFill>
                  <a:srgbClr val="282828"/>
                </a:solidFill>
              </a:rPr>
              <a:t>Whether key is 32 bits (4 B) or 448 bits (56 B), exactly 521 encryptions are run and exactly 4,168 bytes are populated.</a:t>
            </a:r>
          </a:p>
        </p:txBody>
      </p:sp>
      <p:pic>
        <p:nvPicPr>
          <p:cNvPr id="4" name="Picture 3" descr="fig09_memory_vs_key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1927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  <a:latin typeface="Arial"/>
              </a:defRPr>
            </a:pPr>
            <a:r>
              <a:t>CNS RESEARCH DEFENSE &amp;BULL; A.Y. 2026–27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Key Schedule Latency Audit: Resolving Cold-Start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The Cold-Start Anomaly: </a:t>
            </a:r>
            <a:r>
              <a:rPr b="0">
                <a:solidFill>
                  <a:srgbClr val="282828"/>
                </a:solidFill>
              </a:rPr>
              <a:t>The un-warmed first 32-bit key measurement registered 7.8774 ms, while subsequent repetitions registered ~0.08 ms (skewing mean to 0.362 ms and CV to 392%).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Root Cause Identified: </a:t>
            </a:r>
            <a:r>
              <a:rPr b="0">
                <a:solidFill>
                  <a:srgbClr val="282828"/>
                </a:solidFill>
              </a:rPr>
              <a:t>First invocation forced dynamic linking of the PyCryptodome C extension DLL and initial OS page fault allocations into CPU cache.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Audited Warm-Up Policy: </a:t>
            </a:r>
            <a:r>
              <a:rPr b="0">
                <a:solidFill>
                  <a:srgbClr val="282828"/>
                </a:solidFill>
              </a:rPr>
              <a:t>Implemented a 5-iteration warm-up policy (flagged is_warmup=True), isolating cold starts from steady-state evaluations.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Verified Outcome: </a:t>
            </a:r>
            <a:r>
              <a:rPr b="0">
                <a:solidFill>
                  <a:srgbClr val="282828"/>
                </a:solidFill>
              </a:rPr>
              <a:t>Audited 32-bit initialization latency dropped to 0.0896 ms (CV: 33.7%), fully aligned with all other 13 key sizes (0.056–0.162 ms).</a:t>
            </a:r>
          </a:p>
        </p:txBody>
      </p:sp>
      <p:pic>
        <p:nvPicPr>
          <p:cNvPr id="4" name="Picture 3" descr="fig01_key_vs_ini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0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  <a:latin typeface="Arial"/>
              </a:defRPr>
            </a:pPr>
            <a:r>
              <a:t>CNS RESEARCH DEFENSE &amp;BULL; A.Y. 2026–27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Steady-State Throughput Across All Five Workloads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Factorial Parameter Grid: </a:t>
            </a:r>
            <a:r>
              <a:rPr b="0">
                <a:solidFill>
                  <a:srgbClr val="282828"/>
                </a:solidFill>
              </a:rPr>
              <a:t>14 key sizes x 5 workloads (1 KiB, 100 KiB, 1 MiB, 10 MiB, 50 MiB) across 1,820 individual trials.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Amortization Curve: </a:t>
            </a:r>
            <a:r>
              <a:rPr b="0">
                <a:solidFill>
                  <a:srgbClr val="282828"/>
                </a:solidFill>
              </a:rPr>
              <a:t>1 KiB achieves ~6.3–15.9 MiB/s due to function call dispatch. 100 KiB surges to 371–702 MiB/s fitting entirely in CPU cache.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Steady-State Saturation: </a:t>
            </a:r>
            <a:r>
              <a:rPr b="0">
                <a:solidFill>
                  <a:srgbClr val="282828"/>
                </a:solidFill>
              </a:rPr>
              <a:t>10 MiB and 50 MiB stabilize at 83–214 MiB/s. Key length has no systematic impact (ANOVA variations are non-monotonic scheduling noise).</a:t>
            </a:r>
          </a:p>
          <a:p>
            <a:pPr>
              <a:spcBef>
                <a:spcPts val="800"/>
              </a:spcBef>
              <a:defRPr b="1" sz="1300">
                <a:solidFill>
                  <a:srgbClr val="0B2545"/>
                </a:solidFill>
              </a:defRPr>
            </a:pPr>
            <a:r>
              <a:t>100% Round-Trip Correctness: </a:t>
            </a:r>
            <a:r>
              <a:rPr b="0">
                <a:solidFill>
                  <a:srgbClr val="282828"/>
                </a:solidFill>
              </a:rPr>
              <a:t>SHA-256 digests verified 100% match across all 1,820 trials with 0 silent failures.</a:t>
            </a:r>
          </a:p>
        </p:txBody>
      </p:sp>
      <p:pic>
        <p:nvPicPr>
          <p:cNvPr id="4" name="Picture 3" descr="fig11_key_siz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6447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  <a:latin typeface="Arial"/>
              </a:defRPr>
            </a:pPr>
            <a:r>
              <a:t>CNS RESEARCH DEFENSE &amp;BULL; A.Y. 2026–27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Three-Tier Memory Profiling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1400">
                <a:solidFill>
                  <a:srgbClr val="0B2545"/>
                </a:solidFill>
              </a:defRPr>
            </a:pPr>
            <a:r>
              <a:t>Tier 1: Theoretical Algorithmic Subkeys (Constant 4,168 Bytes)</a:t>
            </a:r>
            <a:br/>
            <a:r>
              <a:rPr b="0" sz="1200">
                <a:solidFill>
                  <a:srgbClr val="282828"/>
                </a:solidFill>
              </a:rPr>
              <a:t>Fixed C-level memory: 18 P-array words (72 B) + 1,024 S-box words (4,096 B). Mathematically identical whether key is 32 bits or 448 bits.</a:t>
            </a:r>
          </a:p>
          <a:p>
            <a:pPr>
              <a:spcBef>
                <a:spcPts val="1200"/>
              </a:spcBef>
              <a:defRPr b="1" sz="1400">
                <a:solidFill>
                  <a:srgbClr val="0B2545"/>
                </a:solidFill>
              </a:defRPr>
            </a:pPr>
            <a:r>
              <a:t>Tier 2: Python Runtime Heap Allocation via tracemalloc (~168.52 MiB for 50 MiB)</a:t>
            </a:r>
            <a:br/>
            <a:r>
              <a:rPr b="0" sz="1200">
                <a:solidFill>
                  <a:srgbClr val="282828"/>
                </a:solidFill>
              </a:rPr>
              <a:t>Tracks plaintext buffer, PKCS#7 padding, and ciphertext objects. Across the entire 416-bit key range (32 to 448 bits), peak heap delta is only 186 bytes (&lt;0.0001%), attributable solely to Python bytes object metadata.</a:t>
            </a:r>
          </a:p>
          <a:p>
            <a:pPr>
              <a:spcBef>
                <a:spcPts val="1200"/>
              </a:spcBef>
              <a:defRPr b="1" sz="1400">
                <a:solidFill>
                  <a:srgbClr val="0B2545"/>
                </a:solidFill>
              </a:defRPr>
            </a:pPr>
            <a:r>
              <a:t>Tier 3: Operating System Process Working Set via psutil RSS (~265.6 MiB)</a:t>
            </a:r>
            <a:br/>
            <a:r>
              <a:rPr b="0" sz="1200">
                <a:solidFill>
                  <a:srgbClr val="282828"/>
                </a:solidFill>
              </a:rPr>
              <a:t>Whole-process physical RAM containing Python interpreter, compiled C extensions, and OS memory pools. Strictly constant across all key lengths.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  <a:latin typeface="Arial"/>
              </a:defRPr>
            </a:pPr>
            <a:r>
              <a:t>CNS RESEARCH DEFENSE &amp;BULL; A.Y. 2026–27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Practical Security Boundaries: The Sweet32 Collision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1400">
                <a:solidFill>
                  <a:srgbClr val="0B2545"/>
                </a:solidFill>
              </a:defRPr>
            </a:pPr>
            <a:r>
              <a:t>The 64-Bit Block Size Constraint:</a:t>
            </a:r>
            <a:br/>
            <a:r>
              <a:rPr b="0" sz="1200">
                <a:solidFill>
                  <a:srgbClr val="282828"/>
                </a:solidFill>
              </a:rPr>
              <a:t>Blowfish encrypts in 64-bit blocks (b = 64). Under the Birthday Paradox, ciphertext collision probability exceeds 50% after encrypting only 2^{b/2} = 2^{32} blocks (32 GiB of data).</a:t>
            </a:r>
          </a:p>
          <a:p>
            <a:pPr>
              <a:spcBef>
                <a:spcPts val="1200"/>
              </a:spcBef>
              <a:defRPr b="1" sz="1400">
                <a:solidFill>
                  <a:srgbClr val="0B2545"/>
                </a:solidFill>
              </a:defRPr>
            </a:pPr>
            <a:r>
              <a:t>The Sweet32 Attack (Bhargavan &amp; Leurent, 2016):</a:t>
            </a:r>
            <a:br/>
            <a:r>
              <a:rPr b="0" sz="1200">
                <a:solidFill>
                  <a:srgbClr val="282828"/>
                </a:solidFill>
              </a:rPr>
              <a:t>In HTTPS over TLS or OpenVPN using CBC mode, an active network attacker can monitor ciphertext collisions to recover sensitive session cookies and credentials.</a:t>
            </a:r>
          </a:p>
          <a:p>
            <a:pPr>
              <a:spcBef>
                <a:spcPts val="1200"/>
              </a:spcBef>
              <a:defRPr b="1" sz="1400">
                <a:solidFill>
                  <a:srgbClr val="0B2545"/>
                </a:solidFill>
              </a:defRPr>
            </a:pPr>
            <a:r>
              <a:t>Cryptographic Recommendation:</a:t>
            </a:r>
            <a:br/>
            <a:r>
              <a:rPr b="0" sz="1200">
                <a:solidFill>
                  <a:srgbClr val="282828"/>
                </a:solidFill>
              </a:rPr>
              <a:t>While Blowfish's variable key length (up to 448 bits) provides impenetrable defense against brute-force key search, its 64-bit block size renders it obsolete for high-volume streams. Modern protocols must prefer 128-bit block ciphers (AES-GCM / ChaCha20-Poly1305).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D6"/>
                </a:solidFill>
                <a:latin typeface="Arial"/>
              </a:defRPr>
            </a:pPr>
            <a:r>
              <a:t>CNS RESEARCH DEFENSE &amp;BULL; A.Y. 2026–27</a:t>
            </a:r>
          </a:p>
          <a:p>
            <a:pPr>
              <a:defRPr sz="2200" b="1">
                <a:solidFill>
                  <a:srgbClr val="0B2545"/>
                </a:solidFill>
                <a:latin typeface="Arial"/>
              </a:defRPr>
            </a:pPr>
            <a:r>
              <a:t>Conclusions &amp; Faculty Viva Defense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1. Key Invariance Proved:</a:t>
            </a:r>
            <a:br/>
            <a:r>
              <a:rPr b="0" sz="1200">
                <a:solidFill>
                  <a:srgbClr val="282828"/>
                </a:solidFill>
              </a:rPr>
              <a:t>Secret key length does NOT increase memory consumption or reduce steady-state encryption throughput.</a:t>
            </a:r>
          </a:p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2. Warm-Up Policy Essential:</a:t>
            </a:r>
            <a:br/>
            <a:r>
              <a:rPr b="0" sz="1200">
                <a:solidFill>
                  <a:srgbClr val="282828"/>
                </a:solidFill>
              </a:rPr>
              <a:t>Dynamic library loading accounts for cold-start artifacts (~7.88 ms); steady-state setup is ~0.056–0.162 ms.</a:t>
            </a:r>
          </a:p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3. Comprehensive Deliverables:</a:t>
            </a:r>
            <a:br/>
            <a:r>
              <a:rPr b="0" sz="1200">
                <a:solidFill>
                  <a:srgbClr val="282828"/>
                </a:solidFill>
              </a:rPr>
              <a:t>All 4 phases validated: 1,820 trials, 12 figures at 300 DPI, 3 reconciled tables, Overleaf-ready LaTeX paper, and reproducible Python engine.</a:t>
            </a:r>
          </a:p>
          <a:p>
            <a:pPr>
              <a:spcBef>
                <a:spcPts val="1000"/>
              </a:spcBef>
              <a:defRPr b="1" sz="1400">
                <a:solidFill>
                  <a:srgbClr val="0B2545"/>
                </a:solidFill>
              </a:defRPr>
            </a:pPr>
            <a:r>
              <a:t>4. Institutional Compliance:</a:t>
            </a:r>
            <a:br/>
            <a:r>
              <a:rPr b="0" sz="1200">
                <a:solidFill>
                  <a:srgbClr val="282828"/>
                </a:solidFill>
              </a:rPr>
              <a:t>Strict adherence to Prof. Renuka Pawar's Collaborative R&amp;D guidelines, phase-wise output ownership, and verified deliverables manifest.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