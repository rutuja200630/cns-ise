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Prof. Renuka Pawar and faculty members. Today our team presents our research on Variable Key Length Impacts on Memory Allocation and Throughput in Blowfish Cryptographic Frameworks. This project adheres strictly to the SPIT Collaborative R&amp;D Manifest for A.Y. 2026-27.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outline why this study is critical. Modern ciphers are rigid, while Blowfish represents a variable-key architecture. We address the empirical gap: what actually happens to system memory and processing speed when you scale the key from 32 bits all the way to 448 bits?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mathematical engine of Blowfish: 16-round Feistel, four S-boxes, and crucially, the 521 iterative block encryptions that populate the P-array and S-boxes. Emphasize that 521 encryptions happen regardless of whether the key is 32 bits or 448 bits.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faculty through the five hypotheses. Remind them that in scientific research, these are treated as hypotheses to investigate empirically, not predetermined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rigor of the benchmark matrix: 14 key sizes, 5 workloads, 3 warmups + 10 measured reps = 1,820 trials. Point out the fresh random IV per trial, strictly conforming to NIST SP 800-38A.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faculty attention to Figure 1 and 2. Point out that the p-value is 0.1548, which is above 0.05, and R-squared is 0.0051. Key length explains less than 0.5% of variance in initialization time! The 521 iterative encryptions dominate everything.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Figure 3 and 5. At 1 KiB, throughput is low due to fixed invocation overhead. As file size reaches 100 KiB and 1 MiB, throughput saturates. Notice how in Figure 5, the bars for all 14 key lengths are virtually flat for each file size.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Figure 8 and 9. Point out the distinction between tracemalloc heap allocation and process RSS. Emphasize the flat horizontal line in Figure 9: expanding the key from 32 to 448 bits uses zero extra subkey memory.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academic depth. Faculty always ask: 'If Blowfish is so flexible, why don't we use it everywhere?' Explain the Sweet32 collision attack at 32 GiB due to the 64-bit block size, and explain that CBC requires MAC for authenticity.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main conclusions. Reiterate that the project completes all 4 weeks of Prof. Renuka Pawar's collaborative R&amp;D manifest. Conclude by thanking the faculty and inviting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371600"/>
            <a:ext cx="7315200" cy="2286000"/>
          </a:xfrm>
          <a:prstGeom prst="rect">
            <a:avLst/>
          </a:prstGeom>
          <a:noFill/>
        </p:spPr>
        <p:txBody>
          <a:bodyPr wrap="square">
            <a:spAutoFit/>
          </a:bodyPr>
          <a:lstStyle/>
          <a:p>
            <a:pPr>
              <a:defRPr sz="2800" b="1">
                <a:solidFill>
                  <a:srgbClr val="102C57"/>
                </a:solidFill>
              </a:defRPr>
            </a:pPr>
            <a:r>
              <a:t>The Flexible Variable-Key Block Cipher Framework</a:t>
            </a:r>
          </a:p>
          <a:p>
            <a:pPr>
              <a:defRPr sz="1600" i="1">
                <a:solidFill>
                  <a:srgbClr val="355F8E"/>
                </a:solidFill>
              </a:defRPr>
            </a:pPr>
            <a:r>
              <a:t>Variable Key Length Impacts on Memory Allocation and Throughput in Blowfish Cryptographic Frameworks</a:t>
            </a:r>
          </a:p>
        </p:txBody>
      </p:sp>
      <p:sp>
        <p:nvSpPr>
          <p:cNvPr id="3" name="TextBox 2"/>
          <p:cNvSpPr txBox="1"/>
          <p:nvPr/>
        </p:nvSpPr>
        <p:spPr>
          <a:xfrm>
            <a:off x="914400" y="3931920"/>
            <a:ext cx="7315200" cy="2286000"/>
          </a:xfrm>
          <a:prstGeom prst="rect">
            <a:avLst/>
          </a:prstGeom>
          <a:noFill/>
        </p:spPr>
        <p:txBody>
          <a:bodyPr wrap="square">
            <a:spAutoFit/>
          </a:bodyPr>
          <a:lstStyle/>
          <a:p>
            <a:pPr>
              <a:defRPr sz="1300" b="1">
                <a:solidFill>
                  <a:srgbClr val="212529"/>
                </a:solidFill>
              </a:defRPr>
            </a:pPr>
            <a:r>
              <a:t>Subject: Cryptography &amp; Network Security (CNS) A.Y. 2026–27</a:t>
            </a:r>
          </a:p>
          <a:p>
            <a:pPr>
              <a:defRPr sz="1300">
                <a:solidFill>
                  <a:srgbClr val="009688"/>
                </a:solidFill>
              </a:defRPr>
            </a:pPr>
            <a:r>
              <a:t>Faculty In-Charge: Prof. Renuka Pawar</a:t>
            </a:r>
          </a:p>
          <a:p>
            <a:pPr>
              <a:defRPr sz="1200">
                <a:solidFill>
                  <a:srgbClr val="6C757D"/>
                </a:solidFill>
              </a:defRPr>
            </a:pPr>
            <a:r>
              <a:t>Institution: Sardar Patel Institute of Technology (SPIT), Munshi Nagar, Andheri (W), Mumbai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680960" cy="365760"/>
          </a:xfrm>
          <a:prstGeom prst="rect">
            <a:avLst/>
          </a:prstGeom>
          <a:noFill/>
        </p:spPr>
        <p:txBody>
          <a:bodyPr wrap="square">
            <a:spAutoFit/>
          </a:bodyPr>
          <a:lstStyle/>
          <a:p>
            <a:pPr>
              <a:defRPr sz="1000" b="1">
                <a:solidFill>
                  <a:srgbClr val="009688"/>
                </a:solidFill>
              </a:defRPr>
            </a:pPr>
            <a:r>
              <a:t>SPIT CNS COLLABORATIVE R&amp;D 2026-27</a:t>
            </a:r>
          </a:p>
        </p:txBody>
      </p:sp>
      <p:sp>
        <p:nvSpPr>
          <p:cNvPr id="3" name="TextBox 2"/>
          <p:cNvSpPr txBox="1"/>
          <p:nvPr/>
        </p:nvSpPr>
        <p:spPr>
          <a:xfrm>
            <a:off x="731520" y="640080"/>
            <a:ext cx="7680960" cy="731520"/>
          </a:xfrm>
          <a:prstGeom prst="rect">
            <a:avLst/>
          </a:prstGeom>
          <a:noFill/>
        </p:spPr>
        <p:txBody>
          <a:bodyPr wrap="square">
            <a:spAutoFit/>
          </a:bodyPr>
          <a:lstStyle/>
          <a:p>
            <a:pPr>
              <a:defRPr sz="2200" b="1">
                <a:solidFill>
                  <a:srgbClr val="102C57"/>
                </a:solidFill>
              </a:defRPr>
            </a:pPr>
            <a:r>
              <a:t>Problem Statement &amp; Research Motivation</a:t>
            </a:r>
          </a:p>
        </p:txBody>
      </p:sp>
      <p:sp>
        <p:nvSpPr>
          <p:cNvPr id="4" name="TextBox 3"/>
          <p:cNvSpPr txBox="1"/>
          <p:nvPr/>
        </p:nvSpPr>
        <p:spPr>
          <a:xfrm>
            <a:off x="731520" y="1463040"/>
            <a:ext cx="7680960" cy="4754880"/>
          </a:xfrm>
          <a:prstGeom prst="rect">
            <a:avLst/>
          </a:prstGeom>
          <a:noFill/>
        </p:spPr>
        <p:txBody>
          <a:bodyPr wrap="square">
            <a:spAutoFit/>
          </a:bodyPr>
          <a:lstStyle/>
          <a:p/>
          <a:p>
            <a:pPr>
              <a:defRPr sz="1300" b="1">
                <a:solidFill>
                  <a:srgbClr val="102C57"/>
                </a:solidFill>
              </a:defRPr>
            </a:pPr>
            <a:r>
              <a:t>• The Rigid Key Paradigm: </a:t>
            </a:r>
            <a:r>
              <a:rPr b="0">
                <a:solidFill>
                  <a:srgbClr val="212529"/>
                </a:solidFill>
              </a:rPr>
              <a:t>Modern standards like AES mandate fixed key sizes (128, 192, 256 bits). In contrast, Bruce Schneier's Blowfish (1993) introduced a flexible variable key mechanism supporting 32 to 448 bits.</a:t>
            </a:r>
          </a:p>
          <a:p>
            <a:pPr>
              <a:defRPr sz="1300" b="1">
                <a:solidFill>
                  <a:srgbClr val="102C57"/>
                </a:solidFill>
              </a:defRPr>
            </a:pPr>
            <a:r>
              <a:t>• Real-World Deployment Landscape: </a:t>
            </a:r>
            <a:r>
              <a:rPr b="0">
                <a:solidFill>
                  <a:srgbClr val="212529"/>
                </a:solidFill>
              </a:rPr>
              <a:t>Blowfish remains actively utilized in OpenVPN tunnels, disk encryption, legacy SSH, and the ubiquitous bcrypt password hashing algorithm.</a:t>
            </a:r>
          </a:p>
          <a:p>
            <a:pPr>
              <a:defRPr sz="1300" b="1">
                <a:solidFill>
                  <a:srgbClr val="102C57"/>
                </a:solidFill>
              </a:defRPr>
            </a:pPr>
            <a:r>
              <a:t>• The Empirical Research Gap: </a:t>
            </a:r>
            <a:r>
              <a:rPr b="0">
                <a:solidFill>
                  <a:srgbClr val="212529"/>
                </a:solidFill>
              </a:rPr>
              <a:t>While cryptanalytic robustness against differential attacks is well-documented, experimental benchmarks quantifying how variable key sizes affect cipher initialization latency, steady-state throughput, and memory consumption are largely missing or anecdotal.</a:t>
            </a:r>
          </a:p>
          <a:p>
            <a:pPr>
              <a:defRPr sz="1300" b="1">
                <a:solidFill>
                  <a:srgbClr val="102C57"/>
                </a:solidFill>
              </a:defRPr>
            </a:pPr>
            <a:r>
              <a:t>• Project Objective: </a:t>
            </a:r>
            <a:r>
              <a:rPr b="0">
                <a:solidFill>
                  <a:srgbClr val="212529"/>
                </a:solidFill>
              </a:rPr>
              <a:t>Build a rigorous, reproducible benchmarking framework using PyCryptodome to experimentally measure initialization latency, encryption/decryption throughput, and memory allocation across all 14 standard key sizes.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680960" cy="365760"/>
          </a:xfrm>
          <a:prstGeom prst="rect">
            <a:avLst/>
          </a:prstGeom>
          <a:noFill/>
        </p:spPr>
        <p:txBody>
          <a:bodyPr wrap="square">
            <a:spAutoFit/>
          </a:bodyPr>
          <a:lstStyle/>
          <a:p>
            <a:pPr>
              <a:defRPr sz="1000" b="1">
                <a:solidFill>
                  <a:srgbClr val="009688"/>
                </a:solidFill>
              </a:defRPr>
            </a:pPr>
            <a:r>
              <a:t>SPIT CNS COLLABORATIVE R&amp;D 2026-27</a:t>
            </a:r>
          </a:p>
        </p:txBody>
      </p:sp>
      <p:sp>
        <p:nvSpPr>
          <p:cNvPr id="3" name="TextBox 2"/>
          <p:cNvSpPr txBox="1"/>
          <p:nvPr/>
        </p:nvSpPr>
        <p:spPr>
          <a:xfrm>
            <a:off x="731520" y="640080"/>
            <a:ext cx="7680960" cy="731520"/>
          </a:xfrm>
          <a:prstGeom prst="rect">
            <a:avLst/>
          </a:prstGeom>
          <a:noFill/>
        </p:spPr>
        <p:txBody>
          <a:bodyPr wrap="square">
            <a:spAutoFit/>
          </a:bodyPr>
          <a:lstStyle/>
          <a:p>
            <a:pPr>
              <a:defRPr sz="2200" b="1">
                <a:solidFill>
                  <a:srgbClr val="102C57"/>
                </a:solidFill>
              </a:defRPr>
            </a:pPr>
            <a:r>
              <a:t>Blowfish Architecture &amp; Subkey Generation Mechanics</a:t>
            </a:r>
          </a:p>
        </p:txBody>
      </p:sp>
      <p:sp>
        <p:nvSpPr>
          <p:cNvPr id="4" name="TextBox 3"/>
          <p:cNvSpPr txBox="1"/>
          <p:nvPr/>
        </p:nvSpPr>
        <p:spPr>
          <a:xfrm>
            <a:off x="731520" y="1463040"/>
            <a:ext cx="7680960" cy="4754880"/>
          </a:xfrm>
          <a:prstGeom prst="rect">
            <a:avLst/>
          </a:prstGeom>
          <a:noFill/>
        </p:spPr>
        <p:txBody>
          <a:bodyPr wrap="square">
            <a:spAutoFit/>
          </a:bodyPr>
          <a:lstStyle/>
          <a:p/>
          <a:p>
            <a:pPr>
              <a:defRPr sz="1300" b="1">
                <a:solidFill>
                  <a:srgbClr val="102C57"/>
                </a:solidFill>
              </a:defRPr>
            </a:pPr>
            <a:r>
              <a:t>• Feistel Network Topology: </a:t>
            </a:r>
            <a:r>
              <a:rPr b="0">
                <a:solidFill>
                  <a:srgbClr val="212529"/>
                </a:solidFill>
              </a:rPr>
              <a:t>16-round symmetric Feistel network operating on 64-bit plaintext blocks split into 32-bit left (L) and right (R) halves.</a:t>
            </a:r>
          </a:p>
          <a:p>
            <a:pPr>
              <a:defRPr sz="1300" b="1">
                <a:solidFill>
                  <a:srgbClr val="102C57"/>
                </a:solidFill>
              </a:defRPr>
            </a:pPr>
            <a:r>
              <a:t>• Non-Linear Round Function F: </a:t>
            </a:r>
            <a:r>
              <a:rPr b="0">
                <a:solidFill>
                  <a:srgbClr val="212529"/>
                </a:solidFill>
              </a:rPr>
              <a:t>F(x) partitions 32-bit input into four 8-bit bytes, accesses four 256-entry S-boxes, and combines them via modulo 2^32 addition and XOR.</a:t>
            </a:r>
          </a:p>
          <a:p>
            <a:pPr>
              <a:defRPr sz="1300" b="1">
                <a:solidFill>
                  <a:srgbClr val="102C57"/>
                </a:solidFill>
              </a:defRPr>
            </a:pPr>
            <a:r>
              <a:t>• P-Array and S-Box Initialization: </a:t>
            </a:r>
            <a:r>
              <a:rPr b="0">
                <a:solidFill>
                  <a:srgbClr val="212529"/>
                </a:solidFill>
              </a:rPr>
              <a:t>18 P-array entries (P1..P18) and four S-boxes (4x256 entries) are initially seeded with the fractional hexadecimal digits of pi.</a:t>
            </a:r>
          </a:p>
          <a:p>
            <a:pPr>
              <a:defRPr sz="1300" b="1">
                <a:solidFill>
                  <a:srgbClr val="102C57"/>
                </a:solidFill>
              </a:defRPr>
            </a:pPr>
            <a:r>
              <a:t>• Subkey Expansion Cycle: </a:t>
            </a:r>
            <a:r>
              <a:rPr b="0">
                <a:solidFill>
                  <a:srgbClr val="212529"/>
                </a:solidFill>
              </a:rPr>
              <a:t>User key bytes (32-448 bits) are cyclically XORed into the P-array. Then, exactly 521 iterative block encryptions are performed using Blowfish itself to generate the final subkeys.</a:t>
            </a:r>
          </a:p>
          <a:p>
            <a:pPr>
              <a:defRPr sz="1300" b="1">
                <a:solidFill>
                  <a:srgbClr val="102C57"/>
                </a:solidFill>
              </a:defRPr>
            </a:pPr>
            <a:r>
              <a:t>• Architectural Invariance Implication: </a:t>
            </a:r>
            <a:r>
              <a:rPr b="0">
                <a:solidFill>
                  <a:srgbClr val="212529"/>
                </a:solidFill>
              </a:rPr>
              <a:t>Because exactly 521 encryptions are required regardless of key length, expanded subkeys consume fixed storage (4,168 bytes), hypothesizing key-length invariance!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680960" cy="365760"/>
          </a:xfrm>
          <a:prstGeom prst="rect">
            <a:avLst/>
          </a:prstGeom>
          <a:noFill/>
        </p:spPr>
        <p:txBody>
          <a:bodyPr wrap="square">
            <a:spAutoFit/>
          </a:bodyPr>
          <a:lstStyle/>
          <a:p>
            <a:pPr>
              <a:defRPr sz="1000" b="1">
                <a:solidFill>
                  <a:srgbClr val="009688"/>
                </a:solidFill>
              </a:defRPr>
            </a:pPr>
            <a:r>
              <a:t>SPIT CNS COLLABORATIVE R&amp;D 2026-27</a:t>
            </a:r>
          </a:p>
        </p:txBody>
      </p:sp>
      <p:sp>
        <p:nvSpPr>
          <p:cNvPr id="3" name="TextBox 2"/>
          <p:cNvSpPr txBox="1"/>
          <p:nvPr/>
        </p:nvSpPr>
        <p:spPr>
          <a:xfrm>
            <a:off x="731520" y="640080"/>
            <a:ext cx="7680960" cy="731520"/>
          </a:xfrm>
          <a:prstGeom prst="rect">
            <a:avLst/>
          </a:prstGeom>
          <a:noFill/>
        </p:spPr>
        <p:txBody>
          <a:bodyPr wrap="square">
            <a:spAutoFit/>
          </a:bodyPr>
          <a:lstStyle/>
          <a:p>
            <a:pPr>
              <a:defRPr sz="2200" b="1">
                <a:solidFill>
                  <a:srgbClr val="102C57"/>
                </a:solidFill>
              </a:defRPr>
            </a:pPr>
            <a:r>
              <a:t>Formulated Research Questions &amp; Hypotheses</a:t>
            </a:r>
          </a:p>
        </p:txBody>
      </p:sp>
      <p:sp>
        <p:nvSpPr>
          <p:cNvPr id="4" name="TextBox 3"/>
          <p:cNvSpPr txBox="1"/>
          <p:nvPr/>
        </p:nvSpPr>
        <p:spPr>
          <a:xfrm>
            <a:off x="731520" y="1463040"/>
            <a:ext cx="7680960" cy="4754880"/>
          </a:xfrm>
          <a:prstGeom prst="rect">
            <a:avLst/>
          </a:prstGeom>
          <a:noFill/>
        </p:spPr>
        <p:txBody>
          <a:bodyPr wrap="square">
            <a:spAutoFit/>
          </a:bodyPr>
          <a:lstStyle/>
          <a:p/>
          <a:p>
            <a:pPr>
              <a:defRPr sz="1300" b="1">
                <a:solidFill>
                  <a:srgbClr val="102C57"/>
                </a:solidFill>
              </a:defRPr>
            </a:pPr>
            <a:r>
              <a:t>• Hypothesis H1 (Key Schedule Latency): </a:t>
            </a:r>
            <a:r>
              <a:rPr b="0">
                <a:solidFill>
                  <a:srgbClr val="212529"/>
                </a:solidFill>
              </a:rPr>
              <a:t>Does secret key length measurably scale cipher initialization time? (Expected: Minimal or statistically undetectable effect due to 521 self-encryptions dominating).</a:t>
            </a:r>
          </a:p>
          <a:p>
            <a:pPr>
              <a:defRPr sz="1300" b="1">
                <a:solidFill>
                  <a:srgbClr val="102C57"/>
                </a:solidFill>
              </a:defRPr>
            </a:pPr>
            <a:r>
              <a:t>• Hypothesis H2 (Steady-State Throughput): </a:t>
            </a:r>
            <a:r>
              <a:rPr b="0">
                <a:solidFill>
                  <a:srgbClr val="212529"/>
                </a:solidFill>
              </a:rPr>
              <a:t>Does secret key length alter steady-state block processing throughput? (Expected: Strict invariance once subkeys are expanded into registers).</a:t>
            </a:r>
          </a:p>
          <a:p>
            <a:pPr>
              <a:defRPr sz="1300" b="1">
                <a:solidFill>
                  <a:srgbClr val="102C57"/>
                </a:solidFill>
              </a:defRPr>
            </a:pPr>
            <a:r>
              <a:t>• Hypothesis H3 (Workload Amortization): </a:t>
            </a:r>
            <a:r>
              <a:rPr b="0">
                <a:solidFill>
                  <a:srgbClr val="212529"/>
                </a:solidFill>
              </a:rPr>
              <a:t>How does input file size govern throughput and latency? (Expected: Initial steep amortization curve plateauing around 1 MiB; latency scales strictly O(N)).</a:t>
            </a:r>
          </a:p>
          <a:p>
            <a:pPr>
              <a:defRPr sz="1300" b="1">
                <a:solidFill>
                  <a:srgbClr val="102C57"/>
                </a:solidFill>
              </a:defRPr>
            </a:pPr>
            <a:r>
              <a:t>• Hypothesis H4 (Memory Consumption): </a:t>
            </a:r>
            <a:r>
              <a:rPr b="0">
                <a:solidFill>
                  <a:srgbClr val="212529"/>
                </a:solidFill>
              </a:rPr>
              <a:t>Does memory consumption scale with key length or payload size? (Expected: Memory scales with payload buffers but remains completely invariant to key length).</a:t>
            </a:r>
          </a:p>
          <a:p>
            <a:pPr>
              <a:defRPr sz="1300" b="1">
                <a:solidFill>
                  <a:srgbClr val="102C57"/>
                </a:solidFill>
              </a:defRPr>
            </a:pPr>
            <a:r>
              <a:t>• Hypothesis H5 (Statistical Significance vs. Jitter): </a:t>
            </a:r>
            <a:r>
              <a:rPr b="0">
                <a:solidFill>
                  <a:srgbClr val="212529"/>
                </a:solidFill>
              </a:rPr>
              <a:t>Are observed microsecond fluctuations attributable to algorithmic causes or operating system scheduling noise? (Investigated via ANOVA and regression).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680960" cy="365760"/>
          </a:xfrm>
          <a:prstGeom prst="rect">
            <a:avLst/>
          </a:prstGeom>
          <a:noFill/>
        </p:spPr>
        <p:txBody>
          <a:bodyPr wrap="square">
            <a:spAutoFit/>
          </a:bodyPr>
          <a:lstStyle/>
          <a:p>
            <a:pPr>
              <a:defRPr sz="1000" b="1">
                <a:solidFill>
                  <a:srgbClr val="009688"/>
                </a:solidFill>
              </a:defRPr>
            </a:pPr>
            <a:r>
              <a:t>SPIT CNS COLLABORATIVE R&amp;D 2026-27</a:t>
            </a:r>
          </a:p>
        </p:txBody>
      </p:sp>
      <p:sp>
        <p:nvSpPr>
          <p:cNvPr id="3" name="TextBox 2"/>
          <p:cNvSpPr txBox="1"/>
          <p:nvPr/>
        </p:nvSpPr>
        <p:spPr>
          <a:xfrm>
            <a:off x="731520" y="640080"/>
            <a:ext cx="7680960" cy="731520"/>
          </a:xfrm>
          <a:prstGeom prst="rect">
            <a:avLst/>
          </a:prstGeom>
          <a:noFill/>
        </p:spPr>
        <p:txBody>
          <a:bodyPr wrap="square">
            <a:spAutoFit/>
          </a:bodyPr>
          <a:lstStyle/>
          <a:p>
            <a:pPr>
              <a:defRPr sz="2200" b="1">
                <a:solidFill>
                  <a:srgbClr val="102C57"/>
                </a:solidFill>
              </a:defRPr>
            </a:pPr>
            <a:r>
              <a:t>Experimental Setup &amp; Factorial Benchmark Matrix</a:t>
            </a:r>
          </a:p>
        </p:txBody>
      </p:sp>
      <p:sp>
        <p:nvSpPr>
          <p:cNvPr id="4" name="TextBox 3"/>
          <p:cNvSpPr txBox="1"/>
          <p:nvPr/>
        </p:nvSpPr>
        <p:spPr>
          <a:xfrm>
            <a:off x="731520" y="1463040"/>
            <a:ext cx="7680960" cy="4754880"/>
          </a:xfrm>
          <a:prstGeom prst="rect">
            <a:avLst/>
          </a:prstGeom>
          <a:noFill/>
        </p:spPr>
        <p:txBody>
          <a:bodyPr wrap="square">
            <a:spAutoFit/>
          </a:bodyPr>
          <a:lstStyle/>
          <a:p/>
          <a:p>
            <a:pPr>
              <a:defRPr sz="1300" b="1">
                <a:solidFill>
                  <a:srgbClr val="102C57"/>
                </a:solidFill>
              </a:defRPr>
            </a:pPr>
            <a:r>
              <a:t>• 14 Benchmark Key Lengths: </a:t>
            </a:r>
            <a:r>
              <a:rPr b="0">
                <a:solidFill>
                  <a:srgbClr val="212529"/>
                </a:solidFill>
              </a:rPr>
              <a:t>32, 64, 96, 128, 160, 192, 224, 256, 288, 320, 352, 384, 416, and 448 bits (4 to 56 bytes). Generated using cryptographically secure secrets.token_bytes().</a:t>
            </a:r>
          </a:p>
          <a:p>
            <a:pPr>
              <a:defRPr sz="1300" b="1">
                <a:solidFill>
                  <a:srgbClr val="102C57"/>
                </a:solidFill>
              </a:defRPr>
            </a:pPr>
            <a:r>
              <a:t>• 5 Workload Payload Sizes: </a:t>
            </a:r>
            <a:r>
              <a:rPr b="0">
                <a:solidFill>
                  <a:srgbClr val="212529"/>
                </a:solidFill>
              </a:rPr>
              <a:t>1 KiB, 100 KiB, 1 MiB, 10 MiB, and 50 MiB. Pre-generated deterministically with baseline SHA-256 digests.</a:t>
            </a:r>
          </a:p>
          <a:p>
            <a:pPr>
              <a:defRPr sz="1300" b="1">
                <a:solidFill>
                  <a:srgbClr val="102C57"/>
                </a:solidFill>
              </a:defRPr>
            </a:pPr>
            <a:r>
              <a:t>• Repetition &amp; Warm-up Policy: </a:t>
            </a:r>
            <a:r>
              <a:rPr b="0">
                <a:solidFill>
                  <a:srgbClr val="212529"/>
                </a:solidFill>
              </a:rPr>
              <a:t>3 warm-up cycles (excluded from statistics) + 10 measured repetitions per configuration = 1,820 total raw trials.</a:t>
            </a:r>
          </a:p>
          <a:p>
            <a:pPr>
              <a:defRPr sz="1300" b="1">
                <a:solidFill>
                  <a:srgbClr val="102C57"/>
                </a:solidFill>
              </a:defRPr>
            </a:pPr>
            <a:r>
              <a:t>• Operational Mode &amp; Padding: </a:t>
            </a:r>
            <a:r>
              <a:rPr b="0">
                <a:solidFill>
                  <a:srgbClr val="212529"/>
                </a:solidFill>
              </a:rPr>
              <a:t>NIST SP 800-38A CBC mode with fresh 64-bit random IV per trial (no IV reuse) and PKCS#7 block alignment.</a:t>
            </a:r>
          </a:p>
          <a:p>
            <a:pPr>
              <a:defRPr sz="1300" b="1">
                <a:solidFill>
                  <a:srgbClr val="102C57"/>
                </a:solidFill>
              </a:defRPr>
            </a:pPr>
            <a:r>
              <a:t>• High-Resolution Timing &amp; Isolation: </a:t>
            </a:r>
            <a:r>
              <a:rPr b="0">
                <a:solidFill>
                  <a:srgbClr val="212529"/>
                </a:solidFill>
              </a:rPr>
              <a:t>Hardware monotonic timing via time.perf_counter_ns(). Steady-state encryption isolated from I/O and setup.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680960" cy="365760"/>
          </a:xfrm>
          <a:prstGeom prst="rect">
            <a:avLst/>
          </a:prstGeom>
          <a:noFill/>
        </p:spPr>
        <p:txBody>
          <a:bodyPr wrap="square">
            <a:spAutoFit/>
          </a:bodyPr>
          <a:lstStyle/>
          <a:p>
            <a:pPr>
              <a:defRPr sz="1000" b="1">
                <a:solidFill>
                  <a:srgbClr val="009688"/>
                </a:solidFill>
              </a:defRPr>
            </a:pPr>
            <a:r>
              <a:t>SPIT CNS COLLABORATIVE R&amp;D 2026-27</a:t>
            </a:r>
          </a:p>
        </p:txBody>
      </p:sp>
      <p:sp>
        <p:nvSpPr>
          <p:cNvPr id="3" name="TextBox 2"/>
          <p:cNvSpPr txBox="1"/>
          <p:nvPr/>
        </p:nvSpPr>
        <p:spPr>
          <a:xfrm>
            <a:off x="731520" y="640080"/>
            <a:ext cx="7680960" cy="731520"/>
          </a:xfrm>
          <a:prstGeom prst="rect">
            <a:avLst/>
          </a:prstGeom>
          <a:noFill/>
        </p:spPr>
        <p:txBody>
          <a:bodyPr wrap="square">
            <a:spAutoFit/>
          </a:bodyPr>
          <a:lstStyle/>
          <a:p>
            <a:pPr>
              <a:defRPr sz="2200" b="1">
                <a:solidFill>
                  <a:srgbClr val="102C57"/>
                </a:solidFill>
              </a:defRPr>
            </a:pPr>
            <a:r>
              <a:t>Experimental Findings: Cipher Initialization &amp; Key Schedule</a:t>
            </a:r>
          </a:p>
        </p:txBody>
      </p:sp>
      <p:pic>
        <p:nvPicPr>
          <p:cNvPr id="4" name="Picture 3" descr="fig01_key_vs_init_time.png"/>
          <p:cNvPicPr>
            <a:picLocks noChangeAspect="1"/>
          </p:cNvPicPr>
          <p:nvPr/>
        </p:nvPicPr>
        <p:blipFill>
          <a:blip r:embed="rId2"/>
          <a:stretch>
            <a:fillRect/>
          </a:stretch>
        </p:blipFill>
        <p:spPr>
          <a:xfrm>
            <a:off x="731520" y="1463040"/>
            <a:ext cx="3749039" cy="2318338"/>
          </a:xfrm>
          <a:prstGeom prst="rect">
            <a:avLst/>
          </a:prstGeom>
        </p:spPr>
      </p:pic>
      <p:pic>
        <p:nvPicPr>
          <p:cNvPr id="5" name="Picture 4" descr="fig02_init_time_variability.png"/>
          <p:cNvPicPr>
            <a:picLocks noChangeAspect="1"/>
          </p:cNvPicPr>
          <p:nvPr/>
        </p:nvPicPr>
        <p:blipFill>
          <a:blip r:embed="rId3"/>
          <a:stretch>
            <a:fillRect/>
          </a:stretch>
        </p:blipFill>
        <p:spPr>
          <a:xfrm>
            <a:off x="4663440" y="1463040"/>
            <a:ext cx="3749039" cy="2318338"/>
          </a:xfrm>
          <a:prstGeom prst="rect">
            <a:avLst/>
          </a:prstGeom>
        </p:spPr>
      </p:pic>
      <p:sp>
        <p:nvSpPr>
          <p:cNvPr id="6" name="TextBox 5"/>
          <p:cNvSpPr txBox="1"/>
          <p:nvPr/>
        </p:nvSpPr>
        <p:spPr>
          <a:xfrm>
            <a:off x="731520" y="5120640"/>
            <a:ext cx="7680960" cy="1371600"/>
          </a:xfrm>
          <a:prstGeom prst="rect">
            <a:avLst/>
          </a:prstGeom>
          <a:noFill/>
        </p:spPr>
        <p:txBody>
          <a:bodyPr wrap="square">
            <a:spAutoFit/>
          </a:bodyPr>
          <a:lstStyle/>
          <a:p>
            <a:pPr>
              <a:defRPr sz="1100" b="1">
                <a:solidFill>
                  <a:srgbClr val="212529"/>
                </a:solidFill>
              </a:defRPr>
            </a:pPr>
            <a:r>
              <a:t>Key Takeaway: Mean initialization time hovers stably between 0.04 ms and 0.10 ms across all 14 key sizes. One-way ANOVA yields p = 0.1548 (&gt; 0.05), and linear regression yields R² = 0.0051, empirically confirming that secret key length does NOT scale initialization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680960" cy="365760"/>
          </a:xfrm>
          <a:prstGeom prst="rect">
            <a:avLst/>
          </a:prstGeom>
          <a:noFill/>
        </p:spPr>
        <p:txBody>
          <a:bodyPr wrap="square">
            <a:spAutoFit/>
          </a:bodyPr>
          <a:lstStyle/>
          <a:p>
            <a:pPr>
              <a:defRPr sz="1000" b="1">
                <a:solidFill>
                  <a:srgbClr val="009688"/>
                </a:solidFill>
              </a:defRPr>
            </a:pPr>
            <a:r>
              <a:t>SPIT CNS COLLABORATIVE R&amp;D 2026-27</a:t>
            </a:r>
          </a:p>
        </p:txBody>
      </p:sp>
      <p:sp>
        <p:nvSpPr>
          <p:cNvPr id="3" name="TextBox 2"/>
          <p:cNvSpPr txBox="1"/>
          <p:nvPr/>
        </p:nvSpPr>
        <p:spPr>
          <a:xfrm>
            <a:off x="731520" y="640080"/>
            <a:ext cx="7680960" cy="731520"/>
          </a:xfrm>
          <a:prstGeom prst="rect">
            <a:avLst/>
          </a:prstGeom>
          <a:noFill/>
        </p:spPr>
        <p:txBody>
          <a:bodyPr wrap="square">
            <a:spAutoFit/>
          </a:bodyPr>
          <a:lstStyle/>
          <a:p>
            <a:pPr>
              <a:defRPr sz="2200" b="1">
                <a:solidFill>
                  <a:srgbClr val="102C57"/>
                </a:solidFill>
              </a:defRPr>
            </a:pPr>
            <a:r>
              <a:t>Experimental Findings: Throughput &amp; Latency Scaling</a:t>
            </a:r>
          </a:p>
        </p:txBody>
      </p:sp>
      <p:pic>
        <p:nvPicPr>
          <p:cNvPr id="4" name="Picture 3" descr="fig03_enc_throughput_vs_size.png"/>
          <p:cNvPicPr>
            <a:picLocks noChangeAspect="1"/>
          </p:cNvPicPr>
          <p:nvPr/>
        </p:nvPicPr>
        <p:blipFill>
          <a:blip r:embed="rId2"/>
          <a:stretch>
            <a:fillRect/>
          </a:stretch>
        </p:blipFill>
        <p:spPr>
          <a:xfrm>
            <a:off x="731520" y="1463040"/>
            <a:ext cx="3749039" cy="2268302"/>
          </a:xfrm>
          <a:prstGeom prst="rect">
            <a:avLst/>
          </a:prstGeom>
        </p:spPr>
      </p:pic>
      <p:pic>
        <p:nvPicPr>
          <p:cNvPr id="5" name="Picture 4" descr="fig05_key_vs_throughput_panels.png"/>
          <p:cNvPicPr>
            <a:picLocks noChangeAspect="1"/>
          </p:cNvPicPr>
          <p:nvPr/>
        </p:nvPicPr>
        <p:blipFill>
          <a:blip r:embed="rId3"/>
          <a:stretch>
            <a:fillRect/>
          </a:stretch>
        </p:blipFill>
        <p:spPr>
          <a:xfrm>
            <a:off x="4663440" y="1463040"/>
            <a:ext cx="3749039" cy="1985033"/>
          </a:xfrm>
          <a:prstGeom prst="rect">
            <a:avLst/>
          </a:prstGeom>
        </p:spPr>
      </p:pic>
      <p:sp>
        <p:nvSpPr>
          <p:cNvPr id="6" name="TextBox 5"/>
          <p:cNvSpPr txBox="1"/>
          <p:nvPr/>
        </p:nvSpPr>
        <p:spPr>
          <a:xfrm>
            <a:off x="731520" y="5120640"/>
            <a:ext cx="7680960" cy="1371600"/>
          </a:xfrm>
          <a:prstGeom prst="rect">
            <a:avLst/>
          </a:prstGeom>
          <a:noFill/>
        </p:spPr>
        <p:txBody>
          <a:bodyPr wrap="square">
            <a:spAutoFit/>
          </a:bodyPr>
          <a:lstStyle/>
          <a:p>
            <a:pPr>
              <a:defRPr sz="1100" b="1">
                <a:solidFill>
                  <a:srgbClr val="212529"/>
                </a:solidFill>
              </a:defRPr>
            </a:pPr>
            <a:r>
              <a:t>Key Takeaway: Throughput exhibits steep initial amortization (~15 MiB/s at 1 KiB) before plateauing at ~130–190 MiB/s for workloads &gt;= 1 MiB. Figure 5 demonstrates near-identical throughput bars across all 14 key sizes, proving steady-state encryption throughput is invariant to key length.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680960" cy="365760"/>
          </a:xfrm>
          <a:prstGeom prst="rect">
            <a:avLst/>
          </a:prstGeom>
          <a:noFill/>
        </p:spPr>
        <p:txBody>
          <a:bodyPr wrap="square">
            <a:spAutoFit/>
          </a:bodyPr>
          <a:lstStyle/>
          <a:p>
            <a:pPr>
              <a:defRPr sz="1000" b="1">
                <a:solidFill>
                  <a:srgbClr val="009688"/>
                </a:solidFill>
              </a:defRPr>
            </a:pPr>
            <a:r>
              <a:t>SPIT CNS COLLABORATIVE R&amp;D 2026-27</a:t>
            </a:r>
          </a:p>
        </p:txBody>
      </p:sp>
      <p:sp>
        <p:nvSpPr>
          <p:cNvPr id="3" name="TextBox 2"/>
          <p:cNvSpPr txBox="1"/>
          <p:nvPr/>
        </p:nvSpPr>
        <p:spPr>
          <a:xfrm>
            <a:off x="731520" y="640080"/>
            <a:ext cx="7680960" cy="731520"/>
          </a:xfrm>
          <a:prstGeom prst="rect">
            <a:avLst/>
          </a:prstGeom>
          <a:noFill/>
        </p:spPr>
        <p:txBody>
          <a:bodyPr wrap="square">
            <a:spAutoFit/>
          </a:bodyPr>
          <a:lstStyle/>
          <a:p>
            <a:pPr>
              <a:defRPr sz="2200" b="1">
                <a:solidFill>
                  <a:srgbClr val="102C57"/>
                </a:solidFill>
              </a:defRPr>
            </a:pPr>
            <a:r>
              <a:t>Experimental Findings: Memory Allocation &amp; Invariance</a:t>
            </a:r>
          </a:p>
        </p:txBody>
      </p:sp>
      <p:pic>
        <p:nvPicPr>
          <p:cNvPr id="4" name="Picture 3" descr="fig08_memory_vs_file_size.png"/>
          <p:cNvPicPr>
            <a:picLocks noChangeAspect="1"/>
          </p:cNvPicPr>
          <p:nvPr/>
        </p:nvPicPr>
        <p:blipFill>
          <a:blip r:embed="rId2"/>
          <a:stretch>
            <a:fillRect/>
          </a:stretch>
        </p:blipFill>
        <p:spPr>
          <a:xfrm>
            <a:off x="731520" y="1463040"/>
            <a:ext cx="3749039" cy="1563420"/>
          </a:xfrm>
          <a:prstGeom prst="rect">
            <a:avLst/>
          </a:prstGeom>
        </p:spPr>
      </p:pic>
      <p:pic>
        <p:nvPicPr>
          <p:cNvPr id="5" name="Picture 4" descr="fig09_memory_vs_key_length.png"/>
          <p:cNvPicPr>
            <a:picLocks noChangeAspect="1"/>
          </p:cNvPicPr>
          <p:nvPr/>
        </p:nvPicPr>
        <p:blipFill>
          <a:blip r:embed="rId3"/>
          <a:stretch>
            <a:fillRect/>
          </a:stretch>
        </p:blipFill>
        <p:spPr>
          <a:xfrm>
            <a:off x="4663440" y="1463040"/>
            <a:ext cx="3749039" cy="2179847"/>
          </a:xfrm>
          <a:prstGeom prst="rect">
            <a:avLst/>
          </a:prstGeom>
        </p:spPr>
      </p:pic>
      <p:sp>
        <p:nvSpPr>
          <p:cNvPr id="6" name="TextBox 5"/>
          <p:cNvSpPr txBox="1"/>
          <p:nvPr/>
        </p:nvSpPr>
        <p:spPr>
          <a:xfrm>
            <a:off x="731520" y="5120640"/>
            <a:ext cx="7680960" cy="1371600"/>
          </a:xfrm>
          <a:prstGeom prst="rect">
            <a:avLst/>
          </a:prstGeom>
          <a:noFill/>
        </p:spPr>
        <p:txBody>
          <a:bodyPr wrap="square">
            <a:spAutoFit/>
          </a:bodyPr>
          <a:lstStyle/>
          <a:p>
            <a:pPr>
              <a:defRPr sz="1100" b="1">
                <a:solidFill>
                  <a:srgbClr val="212529"/>
                </a:solidFill>
              </a:defRPr>
            </a:pPr>
            <a:r>
              <a:t>Key Takeaway: Python heap allocation (tracemalloc) scales strictly with workload buffer size. Figure 9 reveals a flat line across all 14 key lengths: the difference between 32-bit and 448-bit keys is under 200 bytes, confirming that Blowfish expanded subkeys occupy constant memory (4,168 bytes).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680960" cy="365760"/>
          </a:xfrm>
          <a:prstGeom prst="rect">
            <a:avLst/>
          </a:prstGeom>
          <a:noFill/>
        </p:spPr>
        <p:txBody>
          <a:bodyPr wrap="square">
            <a:spAutoFit/>
          </a:bodyPr>
          <a:lstStyle/>
          <a:p>
            <a:pPr>
              <a:defRPr sz="1000" b="1">
                <a:solidFill>
                  <a:srgbClr val="009688"/>
                </a:solidFill>
              </a:defRPr>
            </a:pPr>
            <a:r>
              <a:t>SPIT CNS COLLABORATIVE R&amp;D 2026-27</a:t>
            </a:r>
          </a:p>
        </p:txBody>
      </p:sp>
      <p:sp>
        <p:nvSpPr>
          <p:cNvPr id="3" name="TextBox 2"/>
          <p:cNvSpPr txBox="1"/>
          <p:nvPr/>
        </p:nvSpPr>
        <p:spPr>
          <a:xfrm>
            <a:off x="731520" y="640080"/>
            <a:ext cx="7680960" cy="731520"/>
          </a:xfrm>
          <a:prstGeom prst="rect">
            <a:avLst/>
          </a:prstGeom>
          <a:noFill/>
        </p:spPr>
        <p:txBody>
          <a:bodyPr wrap="square">
            <a:spAutoFit/>
          </a:bodyPr>
          <a:lstStyle/>
          <a:p>
            <a:pPr>
              <a:defRPr sz="2200" b="1">
                <a:solidFill>
                  <a:srgbClr val="102C57"/>
                </a:solidFill>
              </a:defRPr>
            </a:pPr>
            <a:r>
              <a:t>Security Considerations &amp; Cryptographic Limitations</a:t>
            </a:r>
          </a:p>
        </p:txBody>
      </p:sp>
      <p:sp>
        <p:nvSpPr>
          <p:cNvPr id="4" name="TextBox 3"/>
          <p:cNvSpPr txBox="1"/>
          <p:nvPr/>
        </p:nvSpPr>
        <p:spPr>
          <a:xfrm>
            <a:off x="731520" y="1463040"/>
            <a:ext cx="7680960" cy="4754880"/>
          </a:xfrm>
          <a:prstGeom prst="rect">
            <a:avLst/>
          </a:prstGeom>
          <a:noFill/>
        </p:spPr>
        <p:txBody>
          <a:bodyPr wrap="square">
            <a:spAutoFit/>
          </a:bodyPr>
          <a:lstStyle/>
          <a:p/>
          <a:p>
            <a:pPr>
              <a:defRPr sz="1300" b="1">
                <a:solidFill>
                  <a:srgbClr val="102C57"/>
                </a:solidFill>
              </a:defRPr>
            </a:pPr>
            <a:r>
              <a:t>• The Sweet32 Attack (ACM CCS 2016): </a:t>
            </a:r>
            <a:r>
              <a:rPr b="0">
                <a:solidFill>
                  <a:srgbClr val="212529"/>
                </a:solidFill>
              </a:rPr>
              <a:t>Blowfish has a 64-bit block size. By the Birthday Paradox, ciphertext collisions occur with 50% probability after encrypting 2^32 blocks (32 GiB). Bhargavan &amp; Leurent proved practical session-token recovery in TLS and OpenVPN.</a:t>
            </a:r>
          </a:p>
          <a:p>
            <a:pPr>
              <a:defRPr sz="1300" b="1">
                <a:solidFill>
                  <a:srgbClr val="102C57"/>
                </a:solidFill>
              </a:defRPr>
            </a:pPr>
            <a:r>
              <a:t>• Deprecation in High-Volume Protocols: </a:t>
            </a:r>
            <a:r>
              <a:rPr b="0">
                <a:solidFill>
                  <a:srgbClr val="212529"/>
                </a:solidFill>
              </a:rPr>
              <a:t>Due to the 32 GiB boundary, Blowfish is officially deprecated for large data streams. Modern deployments require 128-bit block ciphers like AES-GCM.</a:t>
            </a:r>
          </a:p>
          <a:p>
            <a:pPr>
              <a:defRPr sz="1300" b="1">
                <a:solidFill>
                  <a:srgbClr val="102C57"/>
                </a:solidFill>
              </a:defRPr>
            </a:pPr>
            <a:r>
              <a:t>• Malleability of CBC Mode: </a:t>
            </a:r>
            <a:r>
              <a:rPr b="0">
                <a:solidFill>
                  <a:srgbClr val="212529"/>
                </a:solidFill>
              </a:rPr>
              <a:t>Standard CBC provides confidentiality but not authenticity. Adversaries can introduce controlled bit flips in ciphertext. Production systems require Encrypt-then-MAC or AEAD.</a:t>
            </a:r>
          </a:p>
          <a:p>
            <a:pPr>
              <a:defRPr sz="1300" b="1">
                <a:solidFill>
                  <a:srgbClr val="102C57"/>
                </a:solidFill>
              </a:defRPr>
            </a:pPr>
            <a:r>
              <a:t>• Functional Correctness vs. Security: </a:t>
            </a:r>
            <a:r>
              <a:rPr b="0">
                <a:solidFill>
                  <a:srgbClr val="212529"/>
                </a:solidFill>
              </a:rPr>
              <a:t>Our 100% pass rate across all 1,820 trials confirms functional implementation correctness, but does not imply resistance to advanced mathematical cryptanalysis.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680960" cy="365760"/>
          </a:xfrm>
          <a:prstGeom prst="rect">
            <a:avLst/>
          </a:prstGeom>
          <a:noFill/>
        </p:spPr>
        <p:txBody>
          <a:bodyPr wrap="square">
            <a:spAutoFit/>
          </a:bodyPr>
          <a:lstStyle/>
          <a:p>
            <a:pPr>
              <a:defRPr sz="1000" b="1">
                <a:solidFill>
                  <a:srgbClr val="009688"/>
                </a:solidFill>
              </a:defRPr>
            </a:pPr>
            <a:r>
              <a:t>SPIT CNS COLLABORATIVE R&amp;D 2026-27</a:t>
            </a:r>
          </a:p>
        </p:txBody>
      </p:sp>
      <p:sp>
        <p:nvSpPr>
          <p:cNvPr id="3" name="TextBox 2"/>
          <p:cNvSpPr txBox="1"/>
          <p:nvPr/>
        </p:nvSpPr>
        <p:spPr>
          <a:xfrm>
            <a:off x="731520" y="640080"/>
            <a:ext cx="7680960" cy="731520"/>
          </a:xfrm>
          <a:prstGeom prst="rect">
            <a:avLst/>
          </a:prstGeom>
          <a:noFill/>
        </p:spPr>
        <p:txBody>
          <a:bodyPr wrap="square">
            <a:spAutoFit/>
          </a:bodyPr>
          <a:lstStyle/>
          <a:p>
            <a:pPr>
              <a:defRPr sz="2200" b="1">
                <a:solidFill>
                  <a:srgbClr val="102C57"/>
                </a:solidFill>
              </a:defRPr>
            </a:pPr>
            <a:r>
              <a:t>Conclusions &amp; Institutional Manifest Compliance</a:t>
            </a:r>
          </a:p>
        </p:txBody>
      </p:sp>
      <p:sp>
        <p:nvSpPr>
          <p:cNvPr id="4" name="TextBox 3"/>
          <p:cNvSpPr txBox="1"/>
          <p:nvPr/>
        </p:nvSpPr>
        <p:spPr>
          <a:xfrm>
            <a:off x="731520" y="1463040"/>
            <a:ext cx="7680960" cy="4754880"/>
          </a:xfrm>
          <a:prstGeom prst="rect">
            <a:avLst/>
          </a:prstGeom>
          <a:noFill/>
        </p:spPr>
        <p:txBody>
          <a:bodyPr wrap="square">
            <a:spAutoFit/>
          </a:bodyPr>
          <a:lstStyle/>
          <a:p/>
          <a:p>
            <a:pPr>
              <a:defRPr sz="1300" b="1">
                <a:solidFill>
                  <a:srgbClr val="102C57"/>
                </a:solidFill>
              </a:defRPr>
            </a:pPr>
            <a:r>
              <a:t>• Key Empirical Finding 1: </a:t>
            </a:r>
            <a:r>
              <a:rPr b="0">
                <a:solidFill>
                  <a:srgbClr val="212529"/>
                </a:solidFill>
              </a:rPr>
              <a:t>Blowfish cipher initialization is dominated by 521 self-encryptions, rendering secret key length (32 to 448 bits) statistically insignificant in initialization cost.</a:t>
            </a:r>
          </a:p>
          <a:p>
            <a:pPr>
              <a:defRPr sz="1300" b="1">
                <a:solidFill>
                  <a:srgbClr val="102C57"/>
                </a:solidFill>
              </a:defRPr>
            </a:pPr>
            <a:r>
              <a:t>• Key Empirical Finding 2: </a:t>
            </a:r>
            <a:r>
              <a:rPr b="0">
                <a:solidFill>
                  <a:srgbClr val="212529"/>
                </a:solidFill>
              </a:rPr>
              <a:t>Steady-state encryption and decryption throughput (~140–190 MiB/s) and memory consumption are completely invariant to secret key length.</a:t>
            </a:r>
          </a:p>
          <a:p>
            <a:pPr>
              <a:defRPr sz="1300" b="1">
                <a:solidFill>
                  <a:srgbClr val="102C57"/>
                </a:solidFill>
              </a:defRPr>
            </a:pPr>
            <a:r>
              <a:t>• Key Empirical Finding 3: </a:t>
            </a:r>
            <a:r>
              <a:rPr b="0">
                <a:solidFill>
                  <a:srgbClr val="212529"/>
                </a:solidFill>
              </a:rPr>
              <a:t>Throughput is governed by workload payload size, amortizing invocation overhead beyond 100 KiB.</a:t>
            </a:r>
          </a:p>
          <a:p>
            <a:pPr>
              <a:defRPr sz="1300" b="1">
                <a:solidFill>
                  <a:srgbClr val="102C57"/>
                </a:solidFill>
              </a:defRPr>
            </a:pPr>
            <a:r>
              <a:t>• SPIT Collaborative R&amp;D Compliance: </a:t>
            </a:r>
            <a:r>
              <a:rPr b="0">
                <a:solidFill>
                  <a:srgbClr val="212529"/>
                </a:solidFill>
              </a:rPr>
              <a:t>Successfully executed all 4 milestones: Week 1 Data Lock, Week 2 Parameter Sweeps, Week 3 Tournament Sync (1,820 trials), and Week 4 Overleaf/IEEE Manuscript.</a:t>
            </a:r>
          </a:p>
          <a:p>
            <a:pPr>
              <a:defRPr sz="1300" b="1">
                <a:solidFill>
                  <a:srgbClr val="102C57"/>
                </a:solidFill>
              </a:defRPr>
            </a:pPr>
            <a:r>
              <a:t>• Complete Deliverables Package: </a:t>
            </a:r>
            <a:r>
              <a:rPr b="0">
                <a:solidFill>
                  <a:srgbClr val="212529"/>
                </a:solidFill>
              </a:rPr>
              <a:t>Main Python engine, raw CSVs, summary CSVs, 12 IEEE 300 DPI figures, full IEEEtran LaTeX paper, and automated test suite.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